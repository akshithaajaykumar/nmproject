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7" r:id="rId4"/>
    <p:sldId id="265" r:id="rId5"/>
    <p:sldId id="260" r:id="rId6"/>
    <p:sldId id="259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260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D1485-2E66-FE74-455C-24397AA2C7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9911" y="-1697685"/>
            <a:ext cx="8485466" cy="4366822"/>
          </a:xfrm>
        </p:spPr>
        <p:txBody>
          <a:bodyPr/>
          <a:lstStyle/>
          <a:p>
            <a:r>
              <a:rPr lang="en-IN" sz="3200" dirty="0"/>
              <a:t>Energy Consumption Prediction in a </a:t>
            </a:r>
            <a:r>
              <a:rPr lang="en-IN" sz="3200" dirty="0" err="1"/>
              <a:t>cnc</a:t>
            </a:r>
            <a:r>
              <a:rPr lang="en-IN" sz="3200" dirty="0"/>
              <a:t> machine (regression)</a:t>
            </a:r>
            <a:endParaRPr lang="en-US" sz="3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79F595-80A0-FB22-5B85-D94E03E81D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88485" y="3779385"/>
            <a:ext cx="6831673" cy="1086237"/>
          </a:xfrm>
        </p:spPr>
        <p:txBody>
          <a:bodyPr>
            <a:noAutofit/>
          </a:bodyPr>
          <a:lstStyle/>
          <a:p>
            <a:r>
              <a:rPr lang="en-IN" sz="1800" dirty="0"/>
              <a:t>By-</a:t>
            </a:r>
          </a:p>
          <a:p>
            <a:r>
              <a:rPr lang="en-IN" sz="1800" dirty="0"/>
              <a:t>   Muthukumaran (2023108006)</a:t>
            </a:r>
          </a:p>
          <a:p>
            <a:r>
              <a:rPr lang="en-IN" sz="1800" dirty="0"/>
              <a:t>   Akeela (2023108007)</a:t>
            </a:r>
          </a:p>
          <a:p>
            <a:r>
              <a:rPr lang="en-IN" sz="1800" dirty="0"/>
              <a:t>   Pugazhendhi (2023108008)</a:t>
            </a:r>
          </a:p>
          <a:p>
            <a:r>
              <a:rPr lang="en-IN" sz="1800" dirty="0"/>
              <a:t>   Vinosahaai (2023108009)</a:t>
            </a:r>
          </a:p>
          <a:p>
            <a:r>
              <a:rPr lang="en-IN" sz="1800" dirty="0"/>
              <a:t>   Akshitha Ajaykumar (2023108010)</a:t>
            </a:r>
          </a:p>
          <a:p>
            <a:endParaRPr lang="en-IN" sz="18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7A7EF9C-69B7-E40B-3532-4B2E8C82A7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3267" y="-1477787"/>
            <a:ext cx="8702110" cy="5257172"/>
          </a:xfrm>
        </p:spPr>
        <p:txBody>
          <a:bodyPr/>
          <a:lstStyle/>
          <a:p>
            <a:r>
              <a:rPr lang="en-IN" sz="3200" dirty="0"/>
              <a:t>Fault detection in Pneumatic System  (classification)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449797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71FD-3BAF-C75F-6641-E193990DB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2214" y="571841"/>
            <a:ext cx="9601200" cy="826294"/>
          </a:xfrm>
        </p:spPr>
        <p:txBody>
          <a:bodyPr/>
          <a:lstStyle/>
          <a:p>
            <a:r>
              <a:rPr lang="en-IN" dirty="0"/>
              <a:t>DATASET (PARAMETERS)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FCB7A-B94B-45E9-F967-40CD4E5E0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214" y="1800226"/>
            <a:ext cx="3483767" cy="4462462"/>
          </a:xfrm>
        </p:spPr>
        <p:txBody>
          <a:bodyPr>
            <a:normAutofit/>
          </a:bodyPr>
          <a:lstStyle/>
          <a:p>
            <a:r>
              <a:rPr lang="en-IN" dirty="0"/>
              <a:t>Cutting speed</a:t>
            </a:r>
          </a:p>
          <a:p>
            <a:r>
              <a:rPr lang="en-IN" dirty="0"/>
              <a:t>Feed rate</a:t>
            </a:r>
          </a:p>
          <a:p>
            <a:r>
              <a:rPr lang="en-IN" dirty="0"/>
              <a:t>Depth of cut</a:t>
            </a:r>
          </a:p>
          <a:p>
            <a:r>
              <a:rPr lang="en-IN" dirty="0"/>
              <a:t>Spindle load</a:t>
            </a:r>
          </a:p>
          <a:p>
            <a:r>
              <a:rPr lang="en-IN" dirty="0"/>
              <a:t>Material type</a:t>
            </a:r>
          </a:p>
          <a:p>
            <a:r>
              <a:rPr lang="en-IN" dirty="0"/>
              <a:t>Operation time</a:t>
            </a:r>
          </a:p>
          <a:p>
            <a:r>
              <a:rPr lang="en-IN" dirty="0"/>
              <a:t>Coolant flow rate</a:t>
            </a:r>
          </a:p>
          <a:p>
            <a:r>
              <a:rPr lang="en-IN" dirty="0"/>
              <a:t>Ambient temperature</a:t>
            </a:r>
          </a:p>
          <a:p>
            <a:r>
              <a:rPr lang="en-IN" dirty="0"/>
              <a:t>Tool wear</a:t>
            </a:r>
          </a:p>
          <a:p>
            <a:r>
              <a:rPr lang="en-IN" dirty="0"/>
              <a:t>Machine type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2A2F1E73-917B-021D-6B6A-7D8DF8030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800226"/>
            <a:ext cx="4043363" cy="4462462"/>
          </a:xfrm>
        </p:spPr>
        <p:txBody>
          <a:bodyPr>
            <a:normAutofit/>
          </a:bodyPr>
          <a:lstStyle/>
          <a:p>
            <a:r>
              <a:rPr lang="en-IN" dirty="0"/>
              <a:t>Air pressure</a:t>
            </a:r>
          </a:p>
          <a:p>
            <a:r>
              <a:rPr lang="en-IN" dirty="0"/>
              <a:t>Flow rate</a:t>
            </a:r>
          </a:p>
          <a:p>
            <a:r>
              <a:rPr lang="en-IN" dirty="0"/>
              <a:t>Valve status</a:t>
            </a:r>
          </a:p>
          <a:p>
            <a:r>
              <a:rPr lang="en-IN" dirty="0"/>
              <a:t>Cylinder position</a:t>
            </a:r>
          </a:p>
          <a:p>
            <a:r>
              <a:rPr lang="en-IN" dirty="0"/>
              <a:t>Leakage rate</a:t>
            </a:r>
          </a:p>
          <a:p>
            <a:r>
              <a:rPr lang="en-IN" dirty="0"/>
              <a:t>Noise level</a:t>
            </a:r>
          </a:p>
          <a:p>
            <a:r>
              <a:rPr lang="en-IN" dirty="0"/>
              <a:t>Load pressure </a:t>
            </a:r>
          </a:p>
          <a:p>
            <a:r>
              <a:rPr lang="en-IN" dirty="0"/>
              <a:t>Cycle time</a:t>
            </a:r>
          </a:p>
          <a:p>
            <a:r>
              <a:rPr lang="en-IN" dirty="0"/>
              <a:t>Ambient temperature</a:t>
            </a:r>
          </a:p>
          <a:p>
            <a:r>
              <a:rPr lang="en-IN" dirty="0"/>
              <a:t>System vibration.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E0B4361-91F8-C5CC-A076-74ECBF836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32214" y="1271588"/>
            <a:ext cx="6861692" cy="481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(REGRESSION-CNC)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EB0409-1EA4-CAF3-F494-A76F1D42D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19214"/>
            <a:ext cx="6861692" cy="481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(CLASSIFICATION-Pneumatic)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06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A2A0-9059-18C4-D0C6-C00BED9BC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838200"/>
          </a:xfrm>
        </p:spPr>
        <p:txBody>
          <a:bodyPr/>
          <a:lstStyle/>
          <a:p>
            <a:r>
              <a:rPr lang="en-IN" b="1" u="sng" dirty="0"/>
              <a:t>OUTPUT TO BE FOUND: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7147C-D086-DE7B-4AC1-7D8F5E1BDF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74371"/>
            <a:ext cx="9601200" cy="2690473"/>
          </a:xfrm>
        </p:spPr>
        <p:txBody>
          <a:bodyPr>
            <a:normAutofit/>
          </a:bodyPr>
          <a:lstStyle/>
          <a:p>
            <a:r>
              <a:rPr lang="en-IN" sz="2800" dirty="0"/>
              <a:t> Predict energy usage based on machine parameters.</a:t>
            </a:r>
          </a:p>
          <a:p>
            <a:endParaRPr lang="en-IN" sz="2800" dirty="0"/>
          </a:p>
          <a:p>
            <a:r>
              <a:rPr lang="en-IN" sz="2800" dirty="0"/>
              <a:t>Classify if pneumatic system is fault or not.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5891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DE237-C90E-E76F-3D4E-F60D019122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799"/>
            <a:ext cx="9601200" cy="5529944"/>
          </a:xfrm>
        </p:spPr>
        <p:txBody>
          <a:bodyPr>
            <a:normAutofit fontScale="90000"/>
          </a:bodyPr>
          <a:lstStyle/>
          <a:p>
            <a:r>
              <a:rPr lang="en-IN" b="1" u="sng" dirty="0"/>
              <a:t>ALGORITHMS USED:</a:t>
            </a:r>
            <a:br>
              <a:rPr lang="en-IN" dirty="0"/>
            </a:br>
            <a:r>
              <a:rPr lang="en-IN" sz="4000" dirty="0"/>
              <a:t>1. </a:t>
            </a:r>
            <a:r>
              <a:rPr lang="en-IN" sz="4000" u="sng" dirty="0"/>
              <a:t>Classification</a:t>
            </a:r>
            <a:br>
              <a:rPr lang="en-IN" sz="4000" dirty="0"/>
            </a:br>
            <a:r>
              <a:rPr lang="en-IN" sz="4000" dirty="0"/>
              <a:t>-   </a:t>
            </a:r>
            <a:r>
              <a:rPr lang="en-US" sz="3800" dirty="0"/>
              <a:t>Used when the target variable is categorical (e.g., spam vs. not spam, disease vs. no disease).</a:t>
            </a:r>
            <a:br>
              <a:rPr lang="en-US" sz="3800" dirty="0"/>
            </a:br>
            <a:r>
              <a:rPr lang="en-US" sz="3800" dirty="0"/>
              <a:t>-   </a:t>
            </a:r>
            <a:r>
              <a:rPr lang="en-IN" sz="4000" dirty="0"/>
              <a:t>Output type: Discrete</a:t>
            </a:r>
            <a:br>
              <a:rPr lang="en-IN" sz="4000" dirty="0"/>
            </a:br>
            <a:br>
              <a:rPr lang="en-IN" sz="4000" dirty="0"/>
            </a:br>
            <a:r>
              <a:rPr lang="en-IN" sz="4000" dirty="0"/>
              <a:t>2. </a:t>
            </a:r>
            <a:r>
              <a:rPr lang="en-IN" sz="4000" u="sng" dirty="0"/>
              <a:t>Regression</a:t>
            </a:r>
            <a:br>
              <a:rPr lang="en-IN" sz="4000" dirty="0"/>
            </a:br>
            <a:r>
              <a:rPr lang="en-IN" sz="4000" dirty="0"/>
              <a:t>-   </a:t>
            </a:r>
            <a:r>
              <a:rPr lang="en-US" sz="3500" dirty="0"/>
              <a:t>Used when the target variable is continuous (e.g., price, temperature).</a:t>
            </a:r>
            <a:br>
              <a:rPr lang="en-US" sz="3500" dirty="0"/>
            </a:br>
            <a:r>
              <a:rPr lang="en-US" sz="3500" dirty="0"/>
              <a:t>-   </a:t>
            </a:r>
            <a:r>
              <a:rPr lang="en-IN" sz="3600" dirty="0"/>
              <a:t>Output type: Continuous</a:t>
            </a:r>
            <a:br>
              <a:rPr lang="en-US" sz="3500" dirty="0"/>
            </a:b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402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B66C7-4403-7E67-2BCC-B8256A50E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358303"/>
            <a:ext cx="9601200" cy="790575"/>
          </a:xfrm>
        </p:spPr>
        <p:txBody>
          <a:bodyPr/>
          <a:lstStyle/>
          <a:p>
            <a:r>
              <a:rPr lang="en-IN" b="1" u="sng" dirty="0"/>
              <a:t>CLASSIFICATION ALGORITHM: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214D6A-D2C5-B421-25BB-1B5CE7B5E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148878"/>
            <a:ext cx="10363200" cy="512564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Logistic Regression:</a:t>
            </a:r>
            <a:r>
              <a:rPr lang="en-IN" sz="1800" dirty="0"/>
              <a:t>
</a:t>
            </a:r>
            <a:r>
              <a:rPr lang="en-US" sz="1800" dirty="0"/>
              <a:t>Estimates the probability that an input belongs to a particular category using a sigmoid function</a:t>
            </a:r>
            <a:r>
              <a:rPr lang="en-IN" sz="1800" dirty="0"/>
              <a:t>
</a:t>
            </a:r>
            <a:r>
              <a:rPr lang="en-IN" sz="1800" b="1" dirty="0"/>
              <a:t>K-Nearest Neighbours (KNN):</a:t>
            </a:r>
            <a:r>
              <a:rPr lang="en-IN" sz="1800" dirty="0"/>
              <a:t>
C</a:t>
            </a:r>
            <a:r>
              <a:rPr lang="en-US" sz="1800" dirty="0"/>
              <a:t>lassifies a new data point based on the majority class among its </a:t>
            </a:r>
            <a:r>
              <a:rPr lang="en-US" sz="1800" i="1" dirty="0"/>
              <a:t>k</a:t>
            </a:r>
            <a:r>
              <a:rPr lang="en-US" sz="1800" dirty="0"/>
              <a:t> closest neighbors in the training set</a:t>
            </a:r>
            <a:r>
              <a:rPr lang="en-IN" sz="1800" dirty="0"/>
              <a:t>
</a:t>
            </a:r>
            <a:r>
              <a:rPr lang="en-IN" sz="1800" b="1" dirty="0"/>
              <a:t>Decision Tree Classifier:</a:t>
            </a:r>
            <a:r>
              <a:rPr lang="en-IN" sz="1800" dirty="0"/>
              <a:t>
</a:t>
            </a:r>
            <a:r>
              <a:rPr lang="en-US" sz="1800" dirty="0"/>
              <a:t>A tree-structured model where internal nodes represent decisions on features, branches represent outcomes, and leaf nodes represent class labels</a:t>
            </a:r>
            <a:r>
              <a:rPr lang="en-IN" sz="1800" dirty="0"/>
              <a:t>
</a:t>
            </a:r>
            <a:r>
              <a:rPr lang="en-IN" sz="1800" b="1" dirty="0"/>
              <a:t>Random Forest Classifier:</a:t>
            </a:r>
            <a:r>
              <a:rPr lang="en-IN" sz="1800" dirty="0"/>
              <a:t>
</a:t>
            </a:r>
            <a:r>
              <a:rPr lang="en-US" sz="1800" dirty="0"/>
              <a:t>Builds multiple decision trees and merges their results (via majority voting) to improve prediction accuracy and control overfitting</a:t>
            </a:r>
            <a:r>
              <a:rPr lang="en-IN" sz="1800" dirty="0"/>
              <a:t>
</a:t>
            </a:r>
            <a:r>
              <a:rPr lang="en-IN" sz="1800" b="1" dirty="0"/>
              <a:t>Gradient Boosting Classifiers:</a:t>
            </a:r>
            <a:r>
              <a:rPr lang="en-IN" sz="1800" dirty="0"/>
              <a:t>
</a:t>
            </a:r>
            <a:r>
              <a:rPr lang="en-US" sz="1800" dirty="0"/>
              <a:t>Builds models sequentially, where each new model corrects the errors made by previous ones</a:t>
            </a:r>
            <a:r>
              <a:rPr lang="en-IN" sz="1800" dirty="0"/>
              <a:t>
</a:t>
            </a:r>
            <a:r>
              <a:rPr lang="en-IN" sz="1800" b="1" dirty="0"/>
              <a:t>Support Vector Machine (SVM):</a:t>
            </a:r>
          </a:p>
          <a:p>
            <a:pPr marL="0" indent="0">
              <a:buNone/>
            </a:pPr>
            <a:r>
              <a:rPr lang="en-US" sz="1800" dirty="0"/>
              <a:t>Finds the optimal hyperplane to separate classes in the feature space</a:t>
            </a:r>
          </a:p>
        </p:txBody>
      </p:sp>
    </p:spTree>
    <p:extLst>
      <p:ext uri="{BB962C8B-B14F-4D97-AF65-F5344CB8AC3E}">
        <p14:creationId xmlns:p14="http://schemas.microsoft.com/office/powerpoint/2010/main" val="132839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3761-C8ED-89ED-0853-B856847A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025" y="392906"/>
            <a:ext cx="9601200" cy="1009649"/>
          </a:xfrm>
        </p:spPr>
        <p:txBody>
          <a:bodyPr/>
          <a:lstStyle/>
          <a:p>
            <a:r>
              <a:rPr lang="en-IN" b="1" u="sng" dirty="0"/>
              <a:t>REGRESSION ALGORITHM:</a:t>
            </a:r>
            <a:endParaRPr lang="en-US" b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C0F7C-DCA6-3D2A-F090-8369649CB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3025" y="1161255"/>
            <a:ext cx="10429875" cy="49291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Linear Regression:</a:t>
            </a:r>
            <a:r>
              <a:rPr lang="en-IN" sz="1800" dirty="0"/>
              <a:t>
</a:t>
            </a:r>
            <a:r>
              <a:rPr lang="en-US" sz="1800" dirty="0"/>
              <a:t>Used when the data has a linear trend.</a:t>
            </a:r>
            <a:r>
              <a:rPr lang="en-IN" sz="1800" dirty="0"/>
              <a:t>
</a:t>
            </a:r>
            <a:r>
              <a:rPr lang="en-IN" sz="1800" b="1" dirty="0"/>
              <a:t>Ridge/Lasso Regression:</a:t>
            </a:r>
            <a:r>
              <a:rPr lang="en-IN" sz="1800" dirty="0"/>
              <a:t>
RIDGE - </a:t>
            </a:r>
            <a:r>
              <a:rPr lang="en-US" sz="1800" dirty="0"/>
              <a:t>Adds L2 regularization (squared magnitude of coefficients) to prevent overfitting.</a:t>
            </a:r>
            <a:br>
              <a:rPr lang="en-IN" sz="1800" dirty="0"/>
            </a:br>
            <a:r>
              <a:rPr lang="en-IN" sz="1800" dirty="0"/>
              <a:t>LASSO - </a:t>
            </a:r>
            <a:r>
              <a:rPr lang="en-US" sz="1800" dirty="0"/>
              <a:t>Perform feature selection by shrinking some coefficients to zero.</a:t>
            </a:r>
            <a:r>
              <a:rPr lang="en-IN" sz="1800" dirty="0"/>
              <a:t>
</a:t>
            </a:r>
            <a:r>
              <a:rPr lang="en-IN" sz="1800" b="1" dirty="0"/>
              <a:t>Decision Tree Regression:</a:t>
            </a:r>
            <a:r>
              <a:rPr lang="en-IN" sz="1800" dirty="0"/>
              <a:t>
</a:t>
            </a:r>
            <a:r>
              <a:rPr lang="en-US" sz="1800" dirty="0"/>
              <a:t>Splits the data into regions using decision rules.</a:t>
            </a:r>
            <a:r>
              <a:rPr lang="en-IN" sz="1800" dirty="0"/>
              <a:t>
</a:t>
            </a:r>
            <a:r>
              <a:rPr lang="en-IN" sz="1800" b="1" dirty="0"/>
              <a:t>Random Forest Regression:</a:t>
            </a:r>
            <a:r>
              <a:rPr lang="en-IN" sz="1800" dirty="0"/>
              <a:t>
Ensemble of decision trees </a:t>
            </a:r>
            <a:r>
              <a:rPr lang="en-US" sz="1800" dirty="0"/>
              <a:t>built on random subsets of data and features.</a:t>
            </a:r>
            <a:r>
              <a:rPr lang="en-IN" sz="1800" dirty="0"/>
              <a:t>
</a:t>
            </a:r>
            <a:r>
              <a:rPr lang="en-IN" sz="1800" b="1" dirty="0"/>
              <a:t>Gradient Boosting:</a:t>
            </a:r>
            <a:r>
              <a:rPr lang="en-IN" sz="1800" dirty="0"/>
              <a:t>
</a:t>
            </a:r>
            <a:r>
              <a:rPr lang="en-US" sz="1800" dirty="0"/>
              <a:t>Ensemble method that builds trees </a:t>
            </a:r>
            <a:r>
              <a:rPr lang="en-US" sz="1800" b="1" dirty="0"/>
              <a:t>sequentially</a:t>
            </a:r>
            <a:r>
              <a:rPr lang="en-US" sz="1800" dirty="0"/>
              <a:t>, where each tree corrects the errors made by the previous ones</a:t>
            </a:r>
            <a:r>
              <a:rPr lang="en-IN" sz="1800" dirty="0"/>
              <a:t>
</a:t>
            </a:r>
            <a:r>
              <a:rPr lang="en-IN" sz="1800" b="1" dirty="0"/>
              <a:t>Support Vector Regression (SVR):</a:t>
            </a:r>
          </a:p>
          <a:p>
            <a:pPr marL="0" indent="0">
              <a:buNone/>
            </a:pPr>
            <a:r>
              <a:rPr lang="en-US" sz="1800" dirty="0"/>
              <a:t>Tries to fit the best line within a threshold (epsilon) while maintaining the margin</a:t>
            </a:r>
            <a:r>
              <a:rPr lang="en-IN" sz="1800" dirty="0"/>
              <a:t>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732293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64A2E-D717-14EB-105F-0D6D29B47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/>
              <a:t>BEST ALGORITHM</a:t>
            </a:r>
            <a:r>
              <a:rPr lang="en-IN" dirty="0"/>
              <a:t>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772BA-3359-FD1A-C051-D6608DCF24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21971"/>
            <a:ext cx="9601200" cy="4245429"/>
          </a:xfrm>
        </p:spPr>
        <p:txBody>
          <a:bodyPr/>
          <a:lstStyle/>
          <a:p>
            <a:r>
              <a:rPr lang="en-IN" b="1" dirty="0"/>
              <a:t>FOR REGRESSION USED IN CNC MACHINE PROBLEM :</a:t>
            </a:r>
          </a:p>
          <a:p>
            <a:pPr marL="0" indent="0">
              <a:buNone/>
            </a:pPr>
            <a:r>
              <a:rPr lang="en-IN" b="1" dirty="0"/>
              <a:t>The </a:t>
            </a:r>
            <a:r>
              <a:rPr lang="en-IN" b="1" dirty="0" err="1"/>
              <a:t>RandomForestRegressor</a:t>
            </a:r>
            <a:r>
              <a:rPr lang="en-IN" b="1" dirty="0"/>
              <a:t> was the best algorithm.</a:t>
            </a:r>
          </a:p>
          <a:p>
            <a:pPr marL="0" indent="0">
              <a:buNone/>
            </a:pPr>
            <a:r>
              <a:rPr lang="en-IN" b="1" dirty="0"/>
              <a:t>It gave the highest score among all other regressors.</a:t>
            </a:r>
          </a:p>
          <a:p>
            <a:pPr marL="0" indent="0">
              <a:buNone/>
            </a:pPr>
            <a:endParaRPr lang="en-IN" b="1" dirty="0"/>
          </a:p>
          <a:p>
            <a:r>
              <a:rPr lang="en-IN" b="1" dirty="0"/>
              <a:t>FOR CLASSIFICATION USED IN PNEUMATIC SYSTEM PROBLEM :</a:t>
            </a:r>
          </a:p>
          <a:p>
            <a:pPr marL="0" indent="0">
              <a:buNone/>
            </a:pPr>
            <a:r>
              <a:rPr lang="en-IN" b="1" dirty="0"/>
              <a:t>The </a:t>
            </a:r>
            <a:r>
              <a:rPr lang="en-IN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DecisionTreeClassifier</a:t>
            </a:r>
            <a:r>
              <a:rPr lang="en-IN" b="1" dirty="0"/>
              <a:t> was the best algorithm.</a:t>
            </a:r>
          </a:p>
          <a:p>
            <a:pPr marL="0" indent="0">
              <a:buNone/>
            </a:pPr>
            <a:r>
              <a:rPr lang="en-IN" b="1" dirty="0"/>
              <a:t>It gave the highest score among all other regressors.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4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5BC8-F2BF-84F9-2A01-3B488A9DF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95325"/>
          </a:xfrm>
        </p:spPr>
        <p:txBody>
          <a:bodyPr/>
          <a:lstStyle/>
          <a:p>
            <a:r>
              <a:rPr lang="en-IN" dirty="0"/>
              <a:t>BENEFITS FOR PREDICTING: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57736-EA2C-C017-D715-3485C77A40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52107"/>
            <a:ext cx="10820400" cy="688087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b="1" dirty="0"/>
              <a:t>1. Cost-Effective Analysis</a:t>
            </a:r>
            <a:r>
              <a:rPr lang="en-IN" sz="1800" dirty="0"/>
              <a:t>
No Infrastructure Needed: Google </a:t>
            </a:r>
            <a:r>
              <a:rPr lang="en-IN" sz="1800" dirty="0" err="1"/>
              <a:t>Colab</a:t>
            </a:r>
            <a:r>
              <a:rPr lang="en-IN" sz="1800" dirty="0"/>
              <a:t> is free and cloud-based, so you don’t need to invest in high-end hardware.
Access to GPUs/TPUs: You can leverage free or affordable acceleration for faster training.
</a:t>
            </a:r>
            <a:r>
              <a:rPr lang="en-IN" sz="1800" b="1" dirty="0"/>
              <a:t>2. Improved Energy Efficiency</a:t>
            </a:r>
            <a:r>
              <a:rPr lang="en-IN" sz="1800" dirty="0"/>
              <a:t>
Optimized Operation: Predicting energy usage allows you to adjust machine parameters to minimize power consumption.
Preventive Maintenance: Unexpected spikes or drops in energy use can indicate issues, leading to timely intervention.
</a:t>
            </a:r>
            <a:r>
              <a:rPr lang="en-IN" sz="1800" b="1" dirty="0"/>
              <a:t>3. Data-Driven Decision Making</a:t>
            </a:r>
            <a:r>
              <a:rPr lang="en-IN" sz="1800" dirty="0"/>
              <a:t>
Better Planning: Accurate predictions help plan production runs with energy efficiency in mind.
Performance Insights: Historical and real-time data analysis can uncover inefficiencies.
</a:t>
            </a:r>
            <a:endParaRPr lang="en-US" sz="18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4F3CF6-D1BE-AE7B-EE9B-08E089A52C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81125"/>
            <a:ext cx="9601200" cy="14010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(FOR CNC MACHINE)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4249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F6E1-1CC4-FD33-97DE-80918C008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3419"/>
          </a:xfrm>
        </p:spPr>
        <p:txBody>
          <a:bodyPr>
            <a:noAutofit/>
          </a:bodyPr>
          <a:lstStyle/>
          <a:p>
            <a:r>
              <a:rPr lang="en-IN" dirty="0"/>
              <a:t>BENEFITS FOR PREDICTING: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240EE2-D759-D0E2-375B-AC9D7990C3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43126"/>
            <a:ext cx="9601200" cy="411718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1900" b="1" dirty="0"/>
              <a:t>1.Early Fault Detection</a:t>
            </a:r>
            <a:r>
              <a:rPr lang="en-IN" sz="1900" dirty="0"/>
              <a:t>
Preventative Maintenance: Classifying faults early helps avoid unplanned downtime and costly repairs.
Increased Safety: Quick identification of issues prevents failures that could pose safety risks.
</a:t>
            </a:r>
            <a:r>
              <a:rPr lang="en-IN" sz="1900" b="1" dirty="0"/>
              <a:t>2. Cost Savings</a:t>
            </a:r>
            <a:r>
              <a:rPr lang="en-IN" sz="1900" dirty="0"/>
              <a:t>
Reduced Maintenance Costs: Only maintain components when needed instead of using fixed schedules.
Minimized Downtime: Automated fault detection shortens the time to diagnosis and repair.
</a:t>
            </a:r>
            <a:r>
              <a:rPr lang="en-IN" sz="1900" b="1" dirty="0"/>
              <a:t>3. Scalability and Flexibility</a:t>
            </a:r>
            <a:r>
              <a:rPr lang="en-IN" sz="1900" dirty="0"/>
              <a:t>
Easily Adaptable Models: You can update or retrain models as more data becomes available.
Multiple System Monitoring: </a:t>
            </a:r>
            <a:r>
              <a:rPr lang="en-IN" sz="1900" dirty="0" err="1"/>
              <a:t>Colab</a:t>
            </a:r>
            <a:r>
              <a:rPr lang="en-IN" sz="1900" dirty="0"/>
              <a:t> supports managing multiple data sources simultaneously.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60C87B-BADB-1750-E928-0B91618F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69219"/>
            <a:ext cx="9601200" cy="38100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(FOR PNEUMATIC SYSTEM)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1677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D9D6BF1-DFF2-4526-9D13-BF339D8C41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A54D4DB6-FB18-4CAE-8905-E0053C9256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1DBD6488-9429-4FFA-8AE8-C4022C39B0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C04FA5E-9397-403D-8733-45505DDB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F1E99C-CFC4-7333-63AE-2B7FDF57A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6006" y="1441485"/>
            <a:ext cx="5607908" cy="147293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7000" cap="all" dirty="0"/>
              <a:t>Q&amp;A Session</a:t>
            </a:r>
          </a:p>
        </p:txBody>
      </p:sp>
      <p:sp>
        <p:nvSpPr>
          <p:cNvPr id="25" name="Freeform 6">
            <a:extLst>
              <a:ext uri="{FF2B5EF4-FFF2-40B4-BE49-F238E27FC236}">
                <a16:creationId xmlns:a16="http://schemas.microsoft.com/office/drawing/2014/main" id="{09E1F823-C239-4ACC-923A-5C958E00E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2199584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7" name="Freeform 6">
            <a:extLst>
              <a:ext uri="{FF2B5EF4-FFF2-40B4-BE49-F238E27FC236}">
                <a16:creationId xmlns:a16="http://schemas.microsoft.com/office/drawing/2014/main" id="{0817DDF7-06E9-4C7C-84DF-2240A6536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76E40F-F20C-3DF8-F811-CF274942408A}"/>
              </a:ext>
            </a:extLst>
          </p:cNvPr>
          <p:cNvSpPr/>
          <p:nvPr/>
        </p:nvSpPr>
        <p:spPr>
          <a:xfrm>
            <a:off x="468086" y="587829"/>
            <a:ext cx="11255828" cy="5900057"/>
          </a:xfrm>
          <a:prstGeom prst="rect">
            <a:avLst/>
          </a:prstGeom>
          <a:solidFill>
            <a:srgbClr val="EFEDE3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0" cap="all" dirty="0">
                <a:solidFill>
                  <a:schemeClr val="tx1">
                    <a:lumMod val="95000"/>
                    <a:lumOff val="5000"/>
                  </a:schemeClr>
                </a:solidFill>
              </a:rPr>
              <a:t>Q&amp;A session!!</a:t>
            </a:r>
            <a:endParaRPr lang="en-IN" sz="7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9932243"/>
      </p:ext>
    </p:extLst>
  </p:cSld>
  <p:clrMapOvr>
    <a:masterClrMapping/>
  </p:clrMapOvr>
</p:sld>
</file>

<file path=ppt/theme/theme1.xml><?xml version="1.0" encoding="utf-8"?>
<a:theme xmlns:a="http://schemas.openxmlformats.org/drawingml/2006/main" name="TF10001025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10001025" id="{F9915BBD-9749-466F-995C-8C8D6A938EC0}" vid="{CF1D1A65-FC75-42D2-B7EF-D2991382DC6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47</TotalTime>
  <Words>776</Words>
  <Application>Microsoft Office PowerPoint</Application>
  <PresentationFormat>Widescreen</PresentationFormat>
  <Paragraphs>60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Franklin Gothic Book</vt:lpstr>
      <vt:lpstr>TF10001025</vt:lpstr>
      <vt:lpstr>Energy Consumption Prediction in a cnc machine (regression)</vt:lpstr>
      <vt:lpstr>DATASET (PARAMETERS)</vt:lpstr>
      <vt:lpstr>OUTPUT TO BE FOUND:</vt:lpstr>
      <vt:lpstr>ALGORITHMS USED: 1. Classification -   Used when the target variable is categorical (e.g., spam vs. not spam, disease vs. no disease). -   Output type: Discrete  2. Regression -   Used when the target variable is continuous (e.g., price, temperature). -   Output type: Continuous  </vt:lpstr>
      <vt:lpstr>CLASSIFICATION ALGORITHM:</vt:lpstr>
      <vt:lpstr>REGRESSION ALGORITHM:</vt:lpstr>
      <vt:lpstr>BEST ALGORITHM:</vt:lpstr>
      <vt:lpstr>BENEFITS FOR PREDICTING:</vt:lpstr>
      <vt:lpstr>BENEFITS FOR PREDICTING:</vt:lpstr>
      <vt:lpstr>Q&amp;A Session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Consumption Prediction in a cnc machine (regression)</dc:title>
  <dc:creator>PUGAZHENDHI K</dc:creator>
  <cp:lastModifiedBy>Akshitha Ajaykumar</cp:lastModifiedBy>
  <cp:revision>5</cp:revision>
  <dcterms:created xsi:type="dcterms:W3CDTF">2025-04-29T15:34:01Z</dcterms:created>
  <dcterms:modified xsi:type="dcterms:W3CDTF">2025-04-30T05:11:56Z</dcterms:modified>
</cp:coreProperties>
</file>